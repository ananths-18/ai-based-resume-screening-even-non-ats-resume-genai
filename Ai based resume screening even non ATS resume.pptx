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1" r:id="rId5"/>
    <p:sldId id="257" r:id="rId6"/>
    <p:sldId id="284" r:id="rId7"/>
    <p:sldId id="258" r:id="rId8"/>
    <p:sldId id="281" r:id="rId9"/>
    <p:sldId id="28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th S" userId="6c08722323a78cfc" providerId="LiveId" clId="{75A0E6A6-651E-4E50-829B-6A8221DF8AE3}"/>
    <pc:docChg chg="modSld">
      <pc:chgData name="Ananth S" userId="6c08722323a78cfc" providerId="LiveId" clId="{75A0E6A6-651E-4E50-829B-6A8221DF8AE3}" dt="2026-02-05T03:09:22.233" v="2" actId="1076"/>
      <pc:docMkLst>
        <pc:docMk/>
      </pc:docMkLst>
      <pc:sldChg chg="modSp mod">
        <pc:chgData name="Ananth S" userId="6c08722323a78cfc" providerId="LiveId" clId="{75A0E6A6-651E-4E50-829B-6A8221DF8AE3}" dt="2026-02-05T03:09:22.233" v="2" actId="1076"/>
        <pc:sldMkLst>
          <pc:docMk/>
          <pc:sldMk cId="1969787568" sldId="271"/>
        </pc:sldMkLst>
        <pc:spChg chg="mod">
          <ac:chgData name="Ananth S" userId="6c08722323a78cfc" providerId="LiveId" clId="{75A0E6A6-651E-4E50-829B-6A8221DF8AE3}" dt="2026-02-05T03:09:22.233" v="2" actId="1076"/>
          <ac:spMkLst>
            <pc:docMk/>
            <pc:sldMk cId="1969787568" sldId="271"/>
            <ac:spMk id="3" creationId="{AF64C29E-DF30-4DC6-AB95-2016F9A703B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7298" y="133651"/>
            <a:ext cx="9769641" cy="1042737"/>
          </a:xfrm>
        </p:spPr>
        <p:txBody>
          <a:bodyPr/>
          <a:lstStyle/>
          <a:p>
            <a:r>
              <a:rPr lang="en-US" sz="2800" dirty="0"/>
              <a:t>Ai based resume screening even non ATS resume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375" y="6356350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-657727"/>
            <a:ext cx="2895600" cy="1315453"/>
          </a:xfrm>
        </p:spPr>
        <p:txBody>
          <a:bodyPr>
            <a:normAutofit/>
          </a:bodyPr>
          <a:lstStyle/>
          <a:p>
            <a:r>
              <a:rPr lang="en-IN" sz="3600" dirty="0"/>
              <a:t>Abstract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930442"/>
            <a:ext cx="5598694" cy="5598696"/>
          </a:xfrm>
        </p:spPr>
        <p:txBody>
          <a:bodyPr>
            <a:normAutofit/>
          </a:bodyPr>
          <a:lstStyle/>
          <a:p>
            <a:r>
              <a:rPr lang="en-US" sz="2600" dirty="0"/>
              <a:t>Traditional resume screening systems rely heavily on keyword matching and ATS-friendly formats. This results in unfair rejection of candidates using scanned or non-ATS resumes. Our project uses </a:t>
            </a:r>
            <a:r>
              <a:rPr lang="en-US" sz="2600" b="1" dirty="0"/>
              <a:t>Generative AI and semantic understanding</a:t>
            </a:r>
            <a:r>
              <a:rPr lang="en-US" sz="2600" dirty="0"/>
              <a:t> to evaluate resumes based on meaning rather than format.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2" y="-86134"/>
            <a:ext cx="7359316" cy="1764324"/>
          </a:xfrm>
        </p:spPr>
        <p:txBody>
          <a:bodyPr anchor="b"/>
          <a:lstStyle/>
          <a:p>
            <a:r>
              <a:rPr lang="en-IN" dirty="0"/>
              <a:t>Need of Generative AI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E1CF79-4FDC-8CAF-CC16-E309A2C49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155223">
            <a:off x="5640550" y="8477618"/>
            <a:ext cx="5733772" cy="848088"/>
          </a:xfrm>
        </p:spPr>
        <p:txBody>
          <a:bodyPr/>
          <a:lstStyle/>
          <a:p>
            <a:endParaRPr lang="en-US" b="0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652" y="2677665"/>
            <a:ext cx="7048908" cy="3032733"/>
          </a:xfrm>
        </p:spPr>
        <p:txBody>
          <a:bodyPr>
            <a:noAutofit/>
          </a:bodyPr>
          <a:lstStyle/>
          <a:p>
            <a:r>
              <a:rPr lang="en-US" sz="2000" dirty="0"/>
              <a:t>Handles </a:t>
            </a:r>
            <a:r>
              <a:rPr lang="en-US" sz="2000" b="1" dirty="0"/>
              <a:t>non-ATS resumes (images, scanned files)</a:t>
            </a:r>
            <a:endParaRPr lang="en-US" sz="2000" dirty="0"/>
          </a:p>
          <a:p>
            <a:r>
              <a:rPr lang="en-US" sz="2000" dirty="0"/>
              <a:t>Understands </a:t>
            </a:r>
            <a:r>
              <a:rPr lang="en-US" sz="2000" b="1" dirty="0"/>
              <a:t>context &amp; semantics</a:t>
            </a:r>
            <a:r>
              <a:rPr lang="en-US" sz="2000" dirty="0"/>
              <a:t>, not just keywords</a:t>
            </a:r>
          </a:p>
          <a:p>
            <a:r>
              <a:rPr lang="en-US" sz="2000" dirty="0"/>
              <a:t>Reduces </a:t>
            </a:r>
            <a:r>
              <a:rPr lang="en-US" sz="2000" b="1" dirty="0"/>
              <a:t>manual HR effort</a:t>
            </a:r>
            <a:endParaRPr lang="en-US" sz="2000" dirty="0"/>
          </a:p>
          <a:p>
            <a:r>
              <a:rPr lang="en-US" sz="2000" dirty="0"/>
              <a:t>Improves </a:t>
            </a:r>
            <a:r>
              <a:rPr lang="en-US" sz="2000" b="1" dirty="0"/>
              <a:t>fairness &amp; accuracy</a:t>
            </a:r>
            <a:endParaRPr lang="en-US" sz="2000" dirty="0"/>
          </a:p>
          <a:p>
            <a:r>
              <a:rPr lang="en-US" sz="2000" dirty="0"/>
              <a:t>Scales to </a:t>
            </a:r>
            <a:r>
              <a:rPr lang="en-US" sz="2000" b="1" dirty="0"/>
              <a:t>hundreds of resumes automatically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88968" y="8596862"/>
            <a:ext cx="2299630" cy="44899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14B8D-0668-0B69-DFBC-CA09C2032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40624" y="8212948"/>
            <a:ext cx="3943627" cy="44898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43ABDF4-0CB3-058A-D796-7C589AE5E593}"/>
              </a:ext>
            </a:extLst>
          </p:cNvPr>
          <p:cNvSpPr txBox="1">
            <a:spLocks/>
          </p:cNvSpPr>
          <p:nvPr/>
        </p:nvSpPr>
        <p:spPr>
          <a:xfrm rot="19783435">
            <a:off x="6845969" y="5803419"/>
            <a:ext cx="5733772" cy="4489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87" y="-1433306"/>
            <a:ext cx="8639759" cy="2379790"/>
          </a:xfrm>
        </p:spPr>
        <p:txBody>
          <a:bodyPr>
            <a:normAutofit/>
          </a:bodyPr>
          <a:lstStyle/>
          <a:p>
            <a:r>
              <a:rPr lang="en-US" b="1" dirty="0"/>
              <a:t>Problem Statement Solved Using Gen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21" y="1187116"/>
            <a:ext cx="9908129" cy="5169233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Problem Statement</a:t>
            </a:r>
          </a:p>
          <a:p>
            <a:r>
              <a:rPr lang="en-US" sz="2600" b="0" dirty="0"/>
              <a:t>Recruiters face difficulty in screening large volumes of resumes, especially non-ATS resumes like scanned images or poorly formatted documents. Manual screening is time-consuming, error-prone, and inconsistent.</a:t>
            </a:r>
            <a:br>
              <a:rPr lang="en-US" sz="2600" b="0" dirty="0"/>
            </a:br>
            <a:br>
              <a:rPr lang="en-US" sz="2600" b="0" dirty="0"/>
            </a:br>
            <a:r>
              <a:rPr lang="en-US" sz="2600" dirty="0"/>
              <a:t>Solution Using Gen AI</a:t>
            </a:r>
          </a:p>
          <a:p>
            <a:r>
              <a:rPr lang="en-US" sz="2600" b="0" dirty="0"/>
              <a:t>Use OCR + NLP + Semantic Embeddings</a:t>
            </a:r>
          </a:p>
          <a:p>
            <a:r>
              <a:rPr lang="en-US" sz="2600" b="0" dirty="0"/>
              <a:t>Extract text from DOCX, TXT, images</a:t>
            </a:r>
          </a:p>
          <a:p>
            <a:r>
              <a:rPr lang="en-US" sz="2600" b="0" dirty="0"/>
              <a:t>Compare resume content with job requirements</a:t>
            </a:r>
          </a:p>
          <a:p>
            <a:r>
              <a:rPr lang="en-US" sz="2600" b="0" dirty="0"/>
              <a:t>Calculate semantic similarity percentage</a:t>
            </a:r>
          </a:p>
          <a:p>
            <a:r>
              <a:rPr lang="en-US" sz="2600" b="0" dirty="0"/>
              <a:t>Automatically select or reject candidates based on threshold</a:t>
            </a:r>
          </a:p>
          <a:p>
            <a:endParaRPr lang="en-US" b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782" y="-3887"/>
            <a:ext cx="8420100" cy="1780860"/>
          </a:xfrm>
        </p:spPr>
        <p:txBody>
          <a:bodyPr/>
          <a:lstStyle/>
          <a:p>
            <a:r>
              <a:rPr lang="en-US" b="1" dirty="0"/>
              <a:t>GenAI / AI Features &amp; Packages Used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501" y="3038133"/>
            <a:ext cx="3924300" cy="464499"/>
          </a:xfrm>
        </p:spPr>
        <p:txBody>
          <a:bodyPr>
            <a:normAutofit/>
          </a:bodyPr>
          <a:lstStyle/>
          <a:p>
            <a:r>
              <a:rPr lang="en-IN" sz="2400" dirty="0"/>
              <a:t>GenAI / AI Features</a:t>
            </a:r>
            <a:endParaRPr lang="en-US" sz="24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2993295"/>
            <a:ext cx="3943627" cy="464499"/>
          </a:xfrm>
        </p:spPr>
        <p:txBody>
          <a:bodyPr>
            <a:normAutofit/>
          </a:bodyPr>
          <a:lstStyle/>
          <a:p>
            <a:r>
              <a:rPr lang="en-IN" sz="2400" dirty="0"/>
              <a:t>Libraries &amp; Tools Used</a:t>
            </a:r>
            <a:endParaRPr 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A676A0-F91B-408A-99A3-F291287AC669}"/>
              </a:ext>
            </a:extLst>
          </p:cNvPr>
          <p:cNvSpPr>
            <a:spLocks noGrp="1" noChangeArrowheads="1"/>
          </p:cNvSpPr>
          <p:nvPr>
            <p:ph sz="half" idx="13"/>
          </p:nvPr>
        </p:nvSpPr>
        <p:spPr bwMode="auto">
          <a:xfrm>
            <a:off x="222584" y="4102978"/>
            <a:ext cx="571099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similarity using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 Embeddings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Context-based resume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ranking &amp; filtering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Non-ATS resume handling via OCR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B8A171C-F282-3D7C-6993-2A6ECC3ABD92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5488407" y="4109579"/>
            <a:ext cx="648100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Sentence-Transformers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semanti</a:t>
            </a:r>
            <a:r>
              <a:rPr lang="en-US" altLang="en-US" sz="2000" dirty="0">
                <a:latin typeface="Arial" panose="020B0604020202020204" pitchFamily="34" charset="0"/>
              </a:rPr>
              <a:t>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embeddings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Tesseract OCR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text extraction from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Pillow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image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docx2txt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Word resume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cosine similarity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data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execution platform</a:t>
            </a:r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93" y="-1093535"/>
            <a:ext cx="9953308" cy="1780860"/>
          </a:xfrm>
        </p:spPr>
        <p:txBody>
          <a:bodyPr/>
          <a:lstStyle/>
          <a:p>
            <a:r>
              <a:rPr lang="en-IN" dirty="0"/>
              <a:t>Results &amp; Outputs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36BD54-EFA1-25A2-9F04-4F22C36E2A5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 rot="10800000" flipV="1">
            <a:off x="5516121" y="1289709"/>
            <a:ext cx="2319011" cy="490410"/>
          </a:xfrm>
        </p:spPr>
        <p:txBody>
          <a:bodyPr>
            <a:normAutofit/>
          </a:bodyPr>
          <a:lstStyle/>
          <a:p>
            <a:r>
              <a:rPr lang="en-IN" dirty="0"/>
              <a:t>Sample Output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516121" y="2242019"/>
            <a:ext cx="5599288" cy="13731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Total resumes processed : 3</a:t>
            </a:r>
          </a:p>
          <a:p>
            <a:r>
              <a:rPr lang="en-US" dirty="0"/>
              <a:t>Resumes ≥ 80% : 0</a:t>
            </a:r>
          </a:p>
          <a:p>
            <a:r>
              <a:rPr lang="en-US" dirty="0"/>
              <a:t>Resumes Rejected (&lt;80%) : 3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DE0D442-1A9C-0964-0FD7-38815AAE8722}"/>
              </a:ext>
            </a:extLst>
          </p:cNvPr>
          <p:cNvSpPr>
            <a:spLocks noGrp="1" noChangeArrowheads="1"/>
          </p:cNvSpPr>
          <p:nvPr>
            <p:ph sz="half" idx="15"/>
          </p:nvPr>
        </p:nvSpPr>
        <p:spPr bwMode="auto">
          <a:xfrm>
            <a:off x="308293" y="1951672"/>
            <a:ext cx="390357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resumes processed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resumes (≥80%)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Rejected resumes (&lt;80%)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name with match percentage.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86" y="1322348"/>
            <a:ext cx="4741477" cy="457771"/>
          </a:xfrm>
        </p:spPr>
        <p:txBody>
          <a:bodyPr>
            <a:noAutofit/>
          </a:bodyPr>
          <a:lstStyle/>
          <a:p>
            <a:r>
              <a:rPr lang="en-IN" sz="2000" dirty="0"/>
              <a:t>System Output</a:t>
            </a: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Key Achievements</a:t>
            </a:r>
            <a:br>
              <a:rPr lang="en-IN" sz="2000" dirty="0"/>
            </a:br>
            <a:br>
              <a:rPr lang="en-IN" sz="2000" dirty="0"/>
            </a:br>
            <a:r>
              <a:rPr lang="en-US" sz="2000" b="0" dirty="0"/>
              <a:t>Processes 500+ resumes</a:t>
            </a:r>
          </a:p>
          <a:p>
            <a:r>
              <a:rPr lang="en-US" sz="2000" b="0" dirty="0"/>
              <a:t>Works on scanned &amp; non-ATS resumes</a:t>
            </a:r>
          </a:p>
          <a:p>
            <a:r>
              <a:rPr lang="en-US" sz="2000" b="0" dirty="0"/>
              <a:t>Fully automated selection</a:t>
            </a:r>
          </a:p>
          <a:p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595AFA-96BF-880B-86BD-A87B4202C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76313"/>
              </p:ext>
            </p:extLst>
          </p:nvPr>
        </p:nvGraphicFramePr>
        <p:xfrm>
          <a:off x="5516121" y="3873523"/>
          <a:ext cx="6226700" cy="271765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113350">
                  <a:extLst>
                    <a:ext uri="{9D8B030D-6E8A-4147-A177-3AD203B41FA5}">
                      <a16:colId xmlns:a16="http://schemas.microsoft.com/office/drawing/2014/main" val="4264958458"/>
                    </a:ext>
                  </a:extLst>
                </a:gridCol>
                <a:gridCol w="3113350">
                  <a:extLst>
                    <a:ext uri="{9D8B030D-6E8A-4147-A177-3AD203B41FA5}">
                      <a16:colId xmlns:a16="http://schemas.microsoft.com/office/drawing/2014/main" val="3830897958"/>
                    </a:ext>
                  </a:extLst>
                </a:gridCol>
              </a:tblGrid>
              <a:tr h="831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Resume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Match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983026"/>
                  </a:ext>
                </a:extLst>
              </a:tr>
              <a:tr h="6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resume 3.png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9.47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4326902"/>
                  </a:ext>
                </a:extLst>
              </a:tr>
              <a:tr h="6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resume from google 2.jpeg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9.47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264793"/>
                  </a:ext>
                </a:extLst>
              </a:tr>
              <a:tr h="6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resume from google.jpeg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9.47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271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0549"/>
            <a:ext cx="3247662" cy="1917700"/>
          </a:xfrm>
        </p:spPr>
        <p:txBody>
          <a:bodyPr>
            <a:normAutofit/>
          </a:bodyPr>
          <a:lstStyle/>
          <a:p>
            <a:r>
              <a:rPr lang="en-IN" sz="3200" b="1" dirty="0"/>
              <a:t>Conclusion</a:t>
            </a:r>
            <a:endParaRPr lang="en-US" sz="3200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50"/>
            <a:ext cx="10680032" cy="3238498"/>
          </a:xfrm>
        </p:spPr>
        <p:txBody>
          <a:bodyPr>
            <a:normAutofit/>
          </a:bodyPr>
          <a:lstStyle/>
          <a:p>
            <a:r>
              <a:rPr lang="en-US" sz="2800" dirty="0"/>
              <a:t>The AI-based resume screening system successfully automates candidate shortlisting using semantic understanding rather than keyword matching. It ensures fairness, accuracy, and scalability, making it suitable for real-world HR recruitment processes.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55</TotalTime>
  <Words>379</Words>
  <Application>Microsoft Office PowerPoint</Application>
  <PresentationFormat>Widescreen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Custom</vt:lpstr>
      <vt:lpstr>Ai based resume screening even non ATS resume</vt:lpstr>
      <vt:lpstr>Abstract</vt:lpstr>
      <vt:lpstr>Need of Generative AI.</vt:lpstr>
      <vt:lpstr>Problem Statement Solved Using Gen AI</vt:lpstr>
      <vt:lpstr>GenAI / AI Features &amp; Packages Used</vt:lpstr>
      <vt:lpstr>Results &amp; Outputs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Ananth S</dc:creator>
  <cp:lastModifiedBy>Ananth S</cp:lastModifiedBy>
  <cp:revision>1</cp:revision>
  <dcterms:created xsi:type="dcterms:W3CDTF">2026-02-04T20:01:07Z</dcterms:created>
  <dcterms:modified xsi:type="dcterms:W3CDTF">2026-02-05T03:10:15Z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